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6" r:id="rId6"/>
    <p:sldId id="259" r:id="rId7"/>
    <p:sldId id="260" r:id="rId8"/>
    <p:sldId id="261" r:id="rId9"/>
    <p:sldId id="262" r:id="rId10"/>
    <p:sldId id="263" r:id="rId11"/>
    <p:sldId id="264" r:id="rId12"/>
    <p:sldId id="269" r:id="rId13"/>
    <p:sldId id="265" r:id="rId14"/>
    <p:sldId id="270" r:id="rId15"/>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8" d="100"/>
          <a:sy n="78" d="100"/>
        </p:scale>
        <p:origin x="850"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fld>
            <a:endParaRPr spc="1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hyperlink" Target="https://en.wikipedia.org/wiki/Information_technology" TargetMode="Externa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2.png"/><Relationship Id="rId1"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13.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42950" y="11049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p:txBody>
      </p:sp>
      <p:sp>
        <p:nvSpPr>
          <p:cNvPr id="7" name="object 7"/>
          <p:cNvSpPr txBox="1">
            <a:spLocks noGrp="1"/>
          </p:cNvSpPr>
          <p:nvPr>
            <p:ph type="ctrTitle"/>
          </p:nvPr>
        </p:nvSpPr>
        <p:spPr>
          <a:xfrm>
            <a:off x="3276600" y="1666875"/>
            <a:ext cx="5800725" cy="1010920"/>
          </a:xfrm>
          <a:prstGeom prst="rect">
            <a:avLst/>
          </a:prstGeom>
        </p:spPr>
        <p:txBody>
          <a:bodyPr vert="horz" wrap="square" lIns="0" tIns="16510" rIns="0" bIns="0" rtlCol="0">
            <a:noAutofit/>
          </a:bodyPr>
          <a:lstStyle/>
          <a:p>
            <a:pPr marL="3213735">
              <a:lnSpc>
                <a:spcPct val="100000"/>
              </a:lnSpc>
              <a:spcBef>
                <a:spcPts val="130"/>
              </a:spcBef>
            </a:pPr>
            <a:r>
              <a:rPr lang="en-US" sz="2800" spc="15" dirty="0"/>
              <a:t>JOGA KANAKA VARSHINI</a:t>
            </a:r>
            <a:endParaRPr lang="en-US" sz="2800" spc="15" dirty="0"/>
          </a:p>
        </p:txBody>
      </p:sp>
      <p:sp>
        <p:nvSpPr>
          <p:cNvPr id="8" name="object 8"/>
          <p:cNvSpPr txBox="1"/>
          <p:nvPr/>
        </p:nvSpPr>
        <p:spPr>
          <a:xfrm>
            <a:off x="6484620" y="2821622"/>
            <a:ext cx="1859280" cy="391795"/>
          </a:xfrm>
          <a:prstGeom prst="rect">
            <a:avLst/>
          </a:prstGeom>
        </p:spPr>
        <p:txBody>
          <a:bodyPr vert="horz" wrap="square" lIns="0" tIns="12700" rIns="0" bIns="0" rtlCol="0">
            <a:spAutoFit/>
          </a:bodyPr>
          <a:lstStyle/>
          <a:p>
            <a:pPr marL="12700">
              <a:lnSpc>
                <a:spcPct val="100000"/>
              </a:lnSpc>
              <a:spcBef>
                <a:spcPts val="100"/>
              </a:spcBef>
            </a:pPr>
            <a:r>
              <a:rPr sz="2400" b="1" spc="10" dirty="0">
                <a:solidFill>
                  <a:srgbClr val="2D936B"/>
                </a:solidFill>
                <a:latin typeface="Trebuchet MS" panose="020B0603020202020204"/>
                <a:cs typeface="Trebuchet MS" panose="020B0603020202020204"/>
              </a:rPr>
              <a:t>Final</a:t>
            </a:r>
            <a:r>
              <a:rPr sz="2400" b="1" spc="-165" dirty="0">
                <a:solidFill>
                  <a:srgbClr val="2D936B"/>
                </a:solidFill>
                <a:latin typeface="Trebuchet MS" panose="020B0603020202020204"/>
                <a:cs typeface="Trebuchet MS" panose="020B0603020202020204"/>
              </a:rPr>
              <a:t> </a:t>
            </a:r>
            <a:r>
              <a:rPr sz="2400" b="1" spc="-5" dirty="0">
                <a:solidFill>
                  <a:srgbClr val="2D936B"/>
                </a:solidFill>
                <a:latin typeface="Trebuchet MS" panose="020B0603020202020204"/>
                <a:cs typeface="Trebuchet MS" panose="020B0603020202020204"/>
              </a:rPr>
              <a:t>Project</a:t>
            </a:r>
            <a:endParaRPr sz="2400">
              <a:latin typeface="Trebuchet MS" panose="020B0603020202020204"/>
              <a:cs typeface="Trebuchet MS" panose="020B0603020202020204"/>
            </a:endParaRPr>
          </a:p>
        </p:txBody>
      </p:sp>
      <p:pic>
        <p:nvPicPr>
          <p:cNvPr id="9" name="object 9"/>
          <p:cNvPicPr/>
          <p:nvPr/>
        </p:nvPicPr>
        <p:blipFill>
          <a:blip r:embed="rId1" cstate="print"/>
          <a:stretch>
            <a:fillRect/>
          </a:stretch>
        </p:blipFill>
        <p:spPr>
          <a:xfrm>
            <a:off x="676275" y="6467475"/>
            <a:ext cx="2143125" cy="200025"/>
          </a:xfrm>
          <a:prstGeom prst="rect">
            <a:avLst/>
          </a:prstGeom>
        </p:spPr>
      </p:pic>
      <p:sp>
        <p:nvSpPr>
          <p:cNvPr id="10" name="object 10"/>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35" y="508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1" cstate="print"/>
            <a:stretch>
              <a:fillRect/>
            </a:stretch>
          </p:blipFill>
          <p:spPr>
            <a:xfrm>
              <a:off x="676275" y="6467475"/>
              <a:ext cx="2143125" cy="200025"/>
            </a:xfrm>
            <a:prstGeom prst="rect">
              <a:avLst/>
            </a:prstGeom>
          </p:spPr>
        </p:pic>
        <p:pic>
          <p:nvPicPr>
            <p:cNvPr id="20" name="object 20"/>
            <p:cNvPicPr/>
            <p:nvPr/>
          </p:nvPicPr>
          <p:blipFill>
            <a:blip r:embed="rId2" cstate="print"/>
            <a:stretch>
              <a:fillRect/>
            </a:stretch>
          </p:blipFill>
          <p:spPr>
            <a:xfrm>
              <a:off x="466725" y="6410325"/>
              <a:ext cx="3705225" cy="295275"/>
            </a:xfrm>
            <a:prstGeom prst="rect">
              <a:avLst/>
            </a:prstGeom>
          </p:spPr>
        </p:pic>
      </p:grpSp>
      <p:sp>
        <p:nvSpPr>
          <p:cNvPr id="21" name="object 21"/>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23" name="Text Box 22"/>
          <p:cNvSpPr txBox="1"/>
          <p:nvPr/>
        </p:nvSpPr>
        <p:spPr>
          <a:xfrm>
            <a:off x="1981200" y="2667000"/>
            <a:ext cx="5411470" cy="521970"/>
          </a:xfrm>
          <a:prstGeom prst="rect">
            <a:avLst/>
          </a:prstGeom>
          <a:noFill/>
        </p:spPr>
        <p:txBody>
          <a:bodyPr wrap="square" rtlCol="0">
            <a:spAutoFit/>
          </a:bodyPr>
          <a:p>
            <a:r>
              <a:rPr lang="en-US" sz="2800"/>
              <a:t>KEYLOGGER SECURITY</a:t>
            </a:r>
            <a:endParaRPr 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p:txBody>
      </p:sp>
      <p:pic>
        <p:nvPicPr>
          <p:cNvPr id="17" name="object 17"/>
          <p:cNvPicPr/>
          <p:nvPr/>
        </p:nvPicPr>
        <p:blipFill>
          <a:blip r:embed="rId1"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2" cstate="print"/>
            <a:stretch>
              <a:fillRect/>
            </a:stretch>
          </p:blipFill>
          <p:spPr>
            <a:xfrm>
              <a:off x="466725" y="6410325"/>
              <a:ext cx="3705225" cy="295275"/>
            </a:xfrm>
            <a:prstGeom prst="rect">
              <a:avLst/>
            </a:prstGeom>
          </p:spPr>
        </p:pic>
        <p:pic>
          <p:nvPicPr>
            <p:cNvPr id="20" name="object 20"/>
            <p:cNvPicPr/>
            <p:nvPr/>
          </p:nvPicPr>
          <p:blipFill>
            <a:blip r:embed="rId3"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endParaRPr dirty="0"/>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23" name="Text Box 22"/>
          <p:cNvSpPr txBox="1"/>
          <p:nvPr/>
        </p:nvSpPr>
        <p:spPr>
          <a:xfrm>
            <a:off x="2286000" y="1600200"/>
            <a:ext cx="5633720" cy="4892675"/>
          </a:xfrm>
          <a:prstGeom prst="rect">
            <a:avLst/>
          </a:prstGeom>
          <a:noFill/>
        </p:spPr>
        <p:txBody>
          <a:bodyPr wrap="square" rtlCol="0">
            <a:spAutoFit/>
          </a:bodyPr>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Introduction</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Problem Statement</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Problem Overview</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Who are the End users?</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Your Solution and its Value Proposition</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The Wow in your solution</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Modelling</a:t>
            </a:r>
            <a:endParaRPr lang="en-IN" sz="24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Result</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762254" y="1142745"/>
            <a:ext cx="5800851" cy="430530"/>
          </a:xfrm>
        </p:spPr>
        <p:txBody>
          <a:bodyPr/>
          <a:p>
            <a:r>
              <a:rPr lang="en-US" sz="2800"/>
              <a:t>INTRODUCTION TO KEYLOGGER</a:t>
            </a:r>
            <a:endParaRPr lang="en-US" sz="2800"/>
          </a:p>
        </p:txBody>
      </p:sp>
      <p:sp>
        <p:nvSpPr>
          <p:cNvPr id="3" name="Subtitle 2"/>
          <p:cNvSpPr>
            <a:spLocks noGrp="1"/>
          </p:cNvSpPr>
          <p:nvPr>
            <p:ph type="subTitle" idx="4"/>
          </p:nvPr>
        </p:nvSpPr>
        <p:spPr>
          <a:xfrm>
            <a:off x="892810" y="2438400"/>
            <a:ext cx="8534400" cy="1494155"/>
          </a:xfrm>
        </p:spPr>
        <p:txBody>
          <a:bodyPr>
            <a:noAutofit/>
          </a:bodyPr>
          <a:p>
            <a:pPr algn="just"/>
            <a:r>
              <a:rPr lang="en-US" dirty="0">
                <a:solidFill>
                  <a:schemeClr val="tx1"/>
                </a:solidFill>
                <a:effectLst/>
                <a:latin typeface="Bahnschrift" panose="020B0502040204020203" pitchFamily="34" charset="0"/>
                <a:sym typeface="+mn-ea"/>
              </a:rPr>
              <a:t>           </a:t>
            </a:r>
            <a:r>
              <a:rPr lang="en-US" sz="2400" dirty="0">
                <a:solidFill>
                  <a:schemeClr val="tx1"/>
                </a:solidFill>
                <a:effectLst/>
                <a:latin typeface="Bahnschrift" panose="020B0502040204020203" pitchFamily="34" charset="0"/>
                <a:sym typeface="+mn-ea"/>
              </a:rPr>
              <a:t>Keylogger is a computer program that records every Keystroke made by a computer user, especially to gain fraudulent access to passw</a:t>
            </a:r>
            <a:r>
              <a:rPr lang="en-US" sz="2400" dirty="0">
                <a:solidFill>
                  <a:schemeClr val="tx1"/>
                </a:solidFill>
                <a:latin typeface="Bahnschrift" panose="020B0502040204020203" pitchFamily="34" charset="0"/>
                <a:sym typeface="+mn-ea"/>
              </a:rPr>
              <a:t>ords</a:t>
            </a:r>
            <a:r>
              <a:rPr lang="en-US" sz="2400" dirty="0">
                <a:solidFill>
                  <a:schemeClr val="tx1"/>
                </a:solidFill>
                <a:effectLst/>
                <a:latin typeface="Bahnschrift" panose="020B0502040204020203" pitchFamily="34" charset="0"/>
                <a:sym typeface="+mn-ea"/>
              </a:rPr>
              <a:t> and other confidential information.</a:t>
            </a:r>
            <a:endParaRPr lang="en-US" sz="2400" dirty="0">
              <a:solidFill>
                <a:schemeClr val="tx1"/>
              </a:solidFill>
              <a:effectLst/>
              <a:latin typeface="Bahnschrift" panose="020B0502040204020203" pitchFamily="3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5" name="object 5"/>
            <p:cNvPicPr/>
            <p:nvPr/>
          </p:nvPicPr>
          <p:blipFill>
            <a:blip r:embed="rId1"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2"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1" name="Text Box 10"/>
          <p:cNvSpPr txBox="1"/>
          <p:nvPr/>
        </p:nvSpPr>
        <p:spPr>
          <a:xfrm>
            <a:off x="833755" y="2286000"/>
            <a:ext cx="6445885" cy="910590"/>
          </a:xfrm>
          <a:prstGeom prst="rect">
            <a:avLst/>
          </a:prstGeom>
          <a:noFill/>
        </p:spPr>
        <p:txBody>
          <a:bodyPr wrap="square" rtlCol="0">
            <a:noAutofit/>
          </a:bodyPr>
          <a:p>
            <a:pPr algn="just"/>
            <a:r>
              <a:rPr lang="en-US"/>
              <a:t>               </a:t>
            </a:r>
            <a:r>
              <a:rPr lang="en-US" sz="2800"/>
              <a:t>  It's challenging to covertly install a hardware keylogger on another person's device</a:t>
            </a:r>
            <a:endParaRPr lang="en-US" sz="2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5" name="object 5"/>
            <p:cNvPicPr/>
            <p:nvPr/>
          </p:nvPicPr>
          <p:blipFill>
            <a:blip r:embed="rId1"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2" cstate="print"/>
          <a:stretch>
            <a:fillRect/>
          </a:stretch>
        </p:blipFill>
        <p:spPr>
          <a:xfrm>
            <a:off x="676275" y="6467475"/>
            <a:ext cx="2143125" cy="200025"/>
          </a:xfrm>
          <a:prstGeom prst="rect">
            <a:avLst/>
          </a:prstGeom>
        </p:spPr>
      </p:pic>
      <p:sp>
        <p:nvSpPr>
          <p:cNvPr id="9" name="object 9"/>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1" name="Text Box 10"/>
          <p:cNvSpPr txBox="1"/>
          <p:nvPr/>
        </p:nvSpPr>
        <p:spPr>
          <a:xfrm>
            <a:off x="914400" y="2438400"/>
            <a:ext cx="7244715" cy="1559560"/>
          </a:xfrm>
          <a:prstGeom prst="rect">
            <a:avLst/>
          </a:prstGeom>
          <a:noFill/>
        </p:spPr>
        <p:txBody>
          <a:bodyPr wrap="square" rtlCol="0">
            <a:noAutofit/>
          </a:bodyPr>
          <a:p>
            <a:pPr algn="just"/>
            <a:r>
              <a:rPr lang="en-US"/>
              <a:t>                </a:t>
            </a:r>
            <a:r>
              <a:rPr lang="en-US" sz="2400"/>
              <a:t> The keyloggers can be detected using antiviruses. Installation of hardware keyloggers is difficult without the knowledge of the owner of the system. The solution to the above existing problem is that we can build a software keyloggers instead of hardware keyloggers.</a:t>
            </a:r>
            <a:endParaRPr lang="en-US"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1" cstate="print"/>
          <a:stretch>
            <a:fillRect/>
          </a:stretch>
        </p:blipFill>
        <p:spPr>
          <a:xfrm>
            <a:off x="723900" y="6172200"/>
            <a:ext cx="2181225" cy="485775"/>
          </a:xfrm>
          <a:prstGeom prst="rect">
            <a:avLst/>
          </a:prstGeom>
        </p:spPr>
      </p:pic>
      <p:sp>
        <p:nvSpPr>
          <p:cNvPr id="7" name="object 7"/>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9" name="Text Box 8"/>
          <p:cNvSpPr txBox="1"/>
          <p:nvPr/>
        </p:nvSpPr>
        <p:spPr>
          <a:xfrm>
            <a:off x="897255" y="2185035"/>
            <a:ext cx="7087870" cy="1938020"/>
          </a:xfrm>
          <a:prstGeom prst="rect">
            <a:avLst/>
          </a:prstGeom>
          <a:noFill/>
        </p:spPr>
        <p:txBody>
          <a:bodyPr wrap="square" rtlCol="0">
            <a:spAutoFit/>
          </a:bodyPr>
          <a:p>
            <a:pPr algn="just">
              <a:lnSpc>
                <a:spcPct val="150000"/>
              </a:lnSpc>
            </a:pPr>
            <a:r>
              <a:rPr lang="en-US" dirty="0">
                <a:effectLst/>
                <a:latin typeface="Arial" panose="020B0604020202020204" pitchFamily="34" charset="0"/>
                <a:sym typeface="+mn-ea"/>
              </a:rPr>
              <a:t>          </a:t>
            </a:r>
            <a:r>
              <a:rPr lang="en-US" sz="2000" dirty="0">
                <a:effectLst/>
                <a:latin typeface="Arial" panose="020B0604020202020204" pitchFamily="34" charset="0"/>
                <a:sym typeface="+mn-ea"/>
              </a:rPr>
              <a:t>Keyloggers are used in </a:t>
            </a:r>
            <a:r>
              <a:rPr lang="en-US" sz="2000" dirty="0">
                <a:effectLst/>
                <a:latin typeface="Arial" panose="020B0604020202020204" pitchFamily="34" charset="0"/>
                <a:sym typeface="+mn-ea"/>
                <a:hlinkClick r:id="rId2" tooltip="Information technology"/>
              </a:rPr>
              <a:t>IT</a:t>
            </a:r>
            <a:r>
              <a:rPr lang="en-US" sz="2000" dirty="0">
                <a:effectLst/>
                <a:latin typeface="Arial" panose="020B0604020202020204" pitchFamily="34" charset="0"/>
                <a:sym typeface="+mn-ea"/>
              </a:rPr>
              <a:t> organizations to troubleshoot technical problems with computers and business networks. Families and businesspeople use keyloggers legally to monitor network usage without their users' direct knowledge.</a:t>
            </a:r>
            <a:endParaRPr lang="en-US" sz="2000" dirty="0">
              <a:effectLst/>
              <a:latin typeface="Arial" panose="020B0604020202020204" pitchFamily="3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1"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sz="3600" spc="-40" dirty="0"/>
              <a:t>Y</a:t>
            </a:r>
            <a:r>
              <a:rPr sz="3600" spc="10" dirty="0"/>
              <a:t>O</a:t>
            </a:r>
            <a:r>
              <a:rPr sz="3600" spc="25" dirty="0"/>
              <a:t>U</a:t>
            </a:r>
            <a:r>
              <a:rPr sz="3600" dirty="0"/>
              <a:t>R</a:t>
            </a:r>
            <a:r>
              <a:rPr sz="3600" spc="5" dirty="0"/>
              <a:t> </a:t>
            </a:r>
            <a:r>
              <a:rPr sz="3600" spc="25" dirty="0"/>
              <a:t>S</a:t>
            </a:r>
            <a:r>
              <a:rPr sz="3600" spc="10" dirty="0"/>
              <a:t>O</a:t>
            </a:r>
            <a:r>
              <a:rPr sz="3600" spc="25" dirty="0"/>
              <a:t>LU</a:t>
            </a:r>
            <a:r>
              <a:rPr sz="3600" spc="-35" dirty="0"/>
              <a:t>T</a:t>
            </a:r>
            <a:r>
              <a:rPr sz="3600" spc="-30" dirty="0"/>
              <a:t>I</a:t>
            </a:r>
            <a:r>
              <a:rPr sz="3600" spc="10" dirty="0"/>
              <a:t>O</a:t>
            </a:r>
            <a:r>
              <a:rPr sz="3600" dirty="0"/>
              <a:t>N</a:t>
            </a:r>
            <a:r>
              <a:rPr sz="3600" spc="-345" dirty="0"/>
              <a:t> </a:t>
            </a:r>
            <a:r>
              <a:rPr sz="3600" spc="-35" dirty="0"/>
              <a:t>A</a:t>
            </a:r>
            <a:r>
              <a:rPr sz="3600" spc="-5" dirty="0"/>
              <a:t>N</a:t>
            </a:r>
            <a:r>
              <a:rPr sz="3600" dirty="0"/>
              <a:t>D</a:t>
            </a:r>
            <a:r>
              <a:rPr sz="3600" spc="35" dirty="0"/>
              <a:t> </a:t>
            </a:r>
            <a:r>
              <a:rPr sz="3600" spc="-30" dirty="0"/>
              <a:t>I</a:t>
            </a:r>
            <a:r>
              <a:rPr sz="3600" spc="-35" dirty="0"/>
              <a:t>T</a:t>
            </a:r>
            <a:r>
              <a:rPr sz="3600" dirty="0"/>
              <a:t>S</a:t>
            </a:r>
            <a:r>
              <a:rPr sz="3600" spc="60" dirty="0"/>
              <a:t> </a:t>
            </a:r>
            <a:r>
              <a:rPr sz="3600" spc="-295" dirty="0"/>
              <a:t>V</a:t>
            </a:r>
            <a:r>
              <a:rPr sz="3600" spc="-35" dirty="0"/>
              <a:t>A</a:t>
            </a:r>
            <a:r>
              <a:rPr sz="3600" spc="25" dirty="0"/>
              <a:t>LU</a:t>
            </a:r>
            <a:r>
              <a:rPr sz="3600" dirty="0"/>
              <a:t>E</a:t>
            </a:r>
            <a:r>
              <a:rPr sz="3600" spc="-65" dirty="0"/>
              <a:t> </a:t>
            </a:r>
            <a:r>
              <a:rPr sz="3600" spc="-15" dirty="0"/>
              <a:t>P</a:t>
            </a:r>
            <a:r>
              <a:rPr sz="3600" spc="-30" dirty="0"/>
              <a:t>R</a:t>
            </a:r>
            <a:r>
              <a:rPr sz="3600" spc="10" dirty="0"/>
              <a:t>O</a:t>
            </a:r>
            <a:r>
              <a:rPr sz="3600" spc="-15" dirty="0"/>
              <a:t>P</a:t>
            </a:r>
            <a:r>
              <a:rPr sz="3600" spc="10" dirty="0"/>
              <a:t>O</a:t>
            </a:r>
            <a:r>
              <a:rPr sz="3600" spc="25" dirty="0"/>
              <a:t>S</a:t>
            </a:r>
            <a:r>
              <a:rPr sz="3600" spc="-30" dirty="0"/>
              <a:t>I</a:t>
            </a:r>
            <a:r>
              <a:rPr sz="3600" spc="-35" dirty="0"/>
              <a:t>T</a:t>
            </a:r>
            <a:r>
              <a:rPr sz="3600" spc="-30" dirty="0"/>
              <a:t>I</a:t>
            </a:r>
            <a:r>
              <a:rPr sz="3600" spc="10" dirty="0"/>
              <a:t>O</a:t>
            </a:r>
            <a:r>
              <a:rPr sz="3600" dirty="0"/>
              <a:t>N</a:t>
            </a:r>
            <a:endParaRPr sz="3600"/>
          </a:p>
        </p:txBody>
      </p:sp>
      <p:pic>
        <p:nvPicPr>
          <p:cNvPr id="7" name="object 7"/>
          <p:cNvPicPr/>
          <p:nvPr/>
        </p:nvPicPr>
        <p:blipFill>
          <a:blip r:embed="rId2" cstate="print"/>
          <a:stretch>
            <a:fillRect/>
          </a:stretch>
        </p:blipFill>
        <p:spPr>
          <a:xfrm>
            <a:off x="676275" y="6467475"/>
            <a:ext cx="2143125" cy="200025"/>
          </a:xfrm>
          <a:prstGeom prst="rect">
            <a:avLst/>
          </a:prstGeom>
        </p:spPr>
      </p:pic>
      <p:sp>
        <p:nvSpPr>
          <p:cNvPr id="8" name="object 8"/>
          <p:cNvSpPr txBox="1"/>
          <p:nvPr/>
        </p:nvSpPr>
        <p:spPr>
          <a:xfrm>
            <a:off x="739775" y="6473337"/>
            <a:ext cx="1798955" cy="191770"/>
          </a:xfrm>
          <a:prstGeom prst="rect">
            <a:avLst/>
          </a:prstGeom>
        </p:spPr>
        <p:txBody>
          <a:bodyPr vert="horz" wrap="square" lIns="0" tIns="6985" rIns="0" bIns="0" rtlCol="0">
            <a:spAutoFit/>
          </a:bodyPr>
          <a:lstStyle/>
          <a:p>
            <a:pPr marL="12700">
              <a:lnSpc>
                <a:spcPct val="100000"/>
              </a:lnSpc>
              <a:spcBef>
                <a:spcPts val="55"/>
              </a:spcBef>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fld>
            <a:endParaRPr spc="10" dirty="0"/>
          </a:p>
        </p:txBody>
      </p:sp>
      <p:sp>
        <p:nvSpPr>
          <p:cNvPr id="10" name="Text Box 9"/>
          <p:cNvSpPr txBox="1"/>
          <p:nvPr/>
        </p:nvSpPr>
        <p:spPr>
          <a:xfrm>
            <a:off x="3515995" y="2553335"/>
            <a:ext cx="5535295" cy="1579245"/>
          </a:xfrm>
          <a:prstGeom prst="rect">
            <a:avLst/>
          </a:prstGeom>
          <a:noFill/>
        </p:spPr>
        <p:txBody>
          <a:bodyPr wrap="square" rtlCol="0">
            <a:noAutofit/>
          </a:bodyPr>
          <a:p>
            <a:pPr algn="just"/>
            <a:r>
              <a:rPr lang="en-US"/>
              <a:t>                 </a:t>
            </a:r>
            <a:r>
              <a:rPr lang="en-US" sz="2400"/>
              <a:t> The solution to the above existing problem is that we can build a software keyloggers instead of hardware keyloggers.</a:t>
            </a:r>
            <a:endParaRPr lang="en-US" sz="2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6" name="object 6"/>
          <p:cNvPicPr/>
          <p:nvPr/>
        </p:nvPicPr>
        <p:blipFill>
          <a:blip r:embed="rId1"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7543165" cy="678180"/>
          </a:xfrm>
          <a:prstGeom prst="rect">
            <a:avLst/>
          </a:prstGeom>
        </p:spPr>
        <p:txBody>
          <a:bodyPr vert="horz" wrap="square" lIns="0" tIns="16510" rIns="0" bIns="0" rtlCol="0">
            <a:spAutoFit/>
          </a:bodyPr>
          <a:lstStyle/>
          <a:p>
            <a:pPr marL="12700">
              <a:lnSpc>
                <a:spcPct val="100000"/>
              </a:lnSpc>
              <a:spcBef>
                <a:spcPts val="130"/>
              </a:spcBef>
            </a:pPr>
            <a:r>
              <a:rPr sz="4250" spc="15" dirty="0"/>
              <a:t>THE</a:t>
            </a:r>
            <a:r>
              <a:rPr sz="4250" spc="20" dirty="0"/>
              <a:t> </a:t>
            </a:r>
            <a:r>
              <a:rPr sz="4250" spc="10" dirty="0"/>
              <a:t>WOW</a:t>
            </a:r>
            <a:r>
              <a:rPr sz="4250" spc="85" dirty="0"/>
              <a:t> </a:t>
            </a:r>
            <a:r>
              <a:rPr sz="4250" spc="10" dirty="0"/>
              <a:t>IN</a:t>
            </a:r>
            <a:r>
              <a:rPr sz="4250" spc="-5" dirty="0"/>
              <a:t> </a:t>
            </a:r>
            <a:r>
              <a:rPr sz="4250" spc="15" dirty="0"/>
              <a:t>YOUR</a:t>
            </a:r>
            <a:r>
              <a:rPr sz="4250" spc="-10" dirty="0"/>
              <a:t> </a:t>
            </a:r>
            <a:r>
              <a:rPr sz="4250" spc="20" dirty="0"/>
              <a:t>SOLUTION</a:t>
            </a:r>
            <a:endParaRPr sz="425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sp>
        <p:nvSpPr>
          <p:cNvPr id="9" name="Text Box 8"/>
          <p:cNvSpPr txBox="1"/>
          <p:nvPr/>
        </p:nvSpPr>
        <p:spPr>
          <a:xfrm>
            <a:off x="2780030" y="2347595"/>
            <a:ext cx="5830570" cy="3046095"/>
          </a:xfrm>
          <a:prstGeom prst="rect">
            <a:avLst/>
          </a:prstGeom>
          <a:noFill/>
        </p:spPr>
        <p:txBody>
          <a:bodyPr wrap="square" rtlCol="0">
            <a:spAutoFit/>
          </a:bodyPr>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Full Transparency.</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Less Risk of Data Theft</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Clearer Protection Against Liability</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Better Password Access.</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More Productivity.</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sym typeface="+mn-ea"/>
              </a:rPr>
              <a:t>Tougher Deterrent Against Phishing &amp; Viruses</a:t>
            </a:r>
            <a:r>
              <a:rPr lang="en-IN" sz="2400" dirty="0">
                <a:sym typeface="+mn-ea"/>
              </a:rPr>
              <a:t>.</a:t>
            </a:r>
            <a:endParaRPr lang="en-IN" sz="2400" dirty="0"/>
          </a:p>
          <a:p>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6" name="object 6"/>
          <p:cNvPicPr/>
          <p:nvPr/>
        </p:nvPicPr>
        <p:blipFill>
          <a:blip r:embed="rId1"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sp>
        <p:nvSpPr>
          <p:cNvPr id="8" name="object 8"/>
          <p:cNvSpPr txBox="1"/>
          <p:nvPr/>
        </p:nvSpPr>
        <p:spPr>
          <a:xfrm>
            <a:off x="739775" y="291147"/>
            <a:ext cx="3303904" cy="758190"/>
          </a:xfrm>
          <a:prstGeom prst="rect">
            <a:avLst/>
          </a:prstGeom>
        </p:spPr>
        <p:txBody>
          <a:bodyPr vert="horz" wrap="square" lIns="0" tIns="13335" rIns="0" bIns="0" rtlCol="0">
            <a:spAutoFit/>
          </a:bodyPr>
          <a:lstStyle/>
          <a:p>
            <a:pPr marL="12700">
              <a:lnSpc>
                <a:spcPct val="100000"/>
              </a:lnSpc>
              <a:spcBef>
                <a:spcPts val="105"/>
              </a:spcBef>
            </a:pPr>
            <a:r>
              <a:rPr sz="4800" b="1" spc="15" dirty="0">
                <a:latin typeface="Trebuchet MS" panose="020B0603020202020204"/>
                <a:cs typeface="Trebuchet MS" panose="020B0603020202020204"/>
              </a:rPr>
              <a:t>M</a:t>
            </a:r>
            <a:r>
              <a:rPr sz="4800" b="1" dirty="0">
                <a:latin typeface="Trebuchet MS" panose="020B0603020202020204"/>
                <a:cs typeface="Trebuchet MS" panose="020B0603020202020204"/>
              </a:rPr>
              <a:t>O</a:t>
            </a:r>
            <a:r>
              <a:rPr sz="4800" b="1" spc="-15" dirty="0">
                <a:latin typeface="Trebuchet MS" panose="020B0603020202020204"/>
                <a:cs typeface="Trebuchet MS" panose="020B0603020202020204"/>
              </a:rPr>
              <a:t>D</a:t>
            </a:r>
            <a:r>
              <a:rPr sz="4800" b="1" spc="-35" dirty="0">
                <a:latin typeface="Trebuchet MS" panose="020B0603020202020204"/>
                <a:cs typeface="Trebuchet MS" panose="020B0603020202020204"/>
              </a:rPr>
              <a:t>E</a:t>
            </a:r>
            <a:r>
              <a:rPr sz="4800" b="1" spc="-30" dirty="0">
                <a:latin typeface="Trebuchet MS" panose="020B0603020202020204"/>
                <a:cs typeface="Trebuchet MS" panose="020B0603020202020204"/>
              </a:rPr>
              <a:t>LL</a:t>
            </a:r>
            <a:r>
              <a:rPr sz="4800" b="1" spc="-5" dirty="0">
                <a:latin typeface="Trebuchet MS" panose="020B0603020202020204"/>
                <a:cs typeface="Trebuchet MS" panose="020B0603020202020204"/>
              </a:rPr>
              <a:t>I</a:t>
            </a:r>
            <a:r>
              <a:rPr sz="4800" b="1" spc="30" dirty="0">
                <a:latin typeface="Trebuchet MS" panose="020B0603020202020204"/>
                <a:cs typeface="Trebuchet MS" panose="020B0603020202020204"/>
              </a:rPr>
              <a:t>N</a:t>
            </a:r>
            <a:r>
              <a:rPr sz="4800" b="1" spc="5" dirty="0">
                <a:latin typeface="Trebuchet MS" panose="020B0603020202020204"/>
                <a:cs typeface="Trebuchet MS" panose="020B0603020202020204"/>
              </a:rPr>
              <a:t>G</a:t>
            </a:r>
            <a:endParaRPr sz="4800">
              <a:latin typeface="Trebuchet MS" panose="020B0603020202020204"/>
              <a:cs typeface="Trebuchet MS" panose="020B0603020202020204"/>
            </a:endParaRPr>
          </a:p>
        </p:txBody>
      </p:sp>
      <p:sp>
        <p:nvSpPr>
          <p:cNvPr id="10" name="Text Box 9"/>
          <p:cNvSpPr txBox="1"/>
          <p:nvPr/>
        </p:nvSpPr>
        <p:spPr>
          <a:xfrm>
            <a:off x="685800" y="1060450"/>
            <a:ext cx="8352790" cy="5591810"/>
          </a:xfrm>
          <a:prstGeom prst="rect">
            <a:avLst/>
          </a:prstGeom>
          <a:noFill/>
        </p:spPr>
        <p:txBody>
          <a:bodyPr wrap="square" rtlCol="0">
            <a:noAutofit/>
          </a:bodyPr>
          <a:p>
            <a:pPr marL="0" indent="0" algn="just">
              <a:lnSpc>
                <a:spcPct val="100000"/>
              </a:lnSpc>
              <a:spcBef>
                <a:spcPts val="0"/>
              </a:spcBef>
              <a:spcAft>
                <a:spcPts val="0"/>
              </a:spcAft>
              <a:buNone/>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mn-ea"/>
              </a:rPr>
              <a:t>Before we start, we need to install Python and some libraries of Python in the system which can be installed by the commands in the command prompt(</a:t>
            </a:r>
            <a:r>
              <a:rPr lang="en-US" altLang="zh-CN" sz="2000" dirty="0" err="1">
                <a:latin typeface="Times New Roman" panose="02020603050405020304" pitchFamily="18" charset="0"/>
                <a:ea typeface="SimSun" panose="02010600030101010101" pitchFamily="2" charset="-122"/>
                <a:cs typeface="Times New Roman" panose="02020603050405020304" pitchFamily="18" charset="0"/>
                <a:sym typeface="+mn-ea"/>
              </a:rPr>
              <a:t>cmd</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mn-ea"/>
              </a:rPr>
              <a:t>).</a:t>
            </a:r>
            <a:endParaRPr lang="en-US" altLang="zh-CN" sz="2000" b="0" i="0" u="none" strike="noStrike" kern="120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lnSpc>
                <a:spcPct val="100000"/>
              </a:lnSpc>
              <a:spcBef>
                <a:spcPts val="0"/>
              </a:spcBef>
              <a:spcAft>
                <a:spcPts val="0"/>
              </a:spcAft>
              <a:buFont typeface="Wingdings" panose="05000000000000000000" pitchFamily="2" charset="2"/>
              <a:buChar char="§"/>
            </a:pPr>
            <a:r>
              <a:rPr lang="en-US" altLang="zh-CN" sz="2000" b="1" dirty="0">
                <a:latin typeface="Times New Roman" panose="02020603050405020304" pitchFamily="18" charset="0"/>
                <a:ea typeface="SimSun" panose="02010600030101010101" pitchFamily="2" charset="-122"/>
                <a:cs typeface="Times New Roman" panose="02020603050405020304" pitchFamily="18" charset="0"/>
                <a:sym typeface="+mn-ea"/>
              </a:rPr>
              <a:t>pip install pynput</a:t>
            </a:r>
            <a:endParaRPr lang="en-US" altLang="zh-CN" sz="2000" b="1" i="0" u="none" strike="noStrike" kern="120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lnSpc>
                <a:spcPct val="100000"/>
              </a:lnSpc>
              <a:spcBef>
                <a:spcPts val="0"/>
              </a:spcBef>
              <a:spcAft>
                <a:spcPts val="0"/>
              </a:spcAft>
              <a:buFont typeface="Wingdings" panose="05000000000000000000" pitchFamily="2" charset="2"/>
              <a:buChar char="§"/>
            </a:pPr>
            <a:r>
              <a:rPr lang="en-US" altLang="zh-CN" sz="2000" b="1" dirty="0">
                <a:latin typeface="Times New Roman" panose="02020603050405020304" pitchFamily="18" charset="0"/>
                <a:ea typeface="SimSun" panose="02010600030101010101" pitchFamily="2" charset="-122"/>
                <a:cs typeface="Times New Roman" panose="02020603050405020304" pitchFamily="18" charset="0"/>
                <a:sym typeface="+mn-ea"/>
              </a:rPr>
              <a:t>pip install jsons </a:t>
            </a:r>
            <a:endParaRPr lang="en-US" altLang="zh-CN" sz="2000" b="1" i="0" u="none" strike="noStrike" kern="120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pPr marL="285750" indent="-285750" algn="just">
              <a:lnSpc>
                <a:spcPct val="100000"/>
              </a:lnSpc>
              <a:spcBef>
                <a:spcPts val="0"/>
              </a:spcBef>
              <a:spcAft>
                <a:spcPts val="0"/>
              </a:spcAft>
              <a:buFont typeface="Wingdings" panose="05000000000000000000" pitchFamily="2" charset="2"/>
              <a:buChar char="§"/>
            </a:pP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mn-ea"/>
              </a:rPr>
              <a:t>Pynput</a:t>
            </a:r>
            <a:r>
              <a:rPr lang="en-US" altLang="zh-CN" sz="2000" u="sng" dirty="0">
                <a:latin typeface="Times New Roman" panose="02020603050405020304" pitchFamily="18" charset="0"/>
                <a:ea typeface="SimSun" panose="0201060003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mn-ea"/>
              </a:rPr>
              <a:t>helps in reading keystrokes as the user types in stuff </a:t>
            </a:r>
            <a:r>
              <a:rPr lang="en-US" altLang="zh-CN" sz="2000" u="sng" dirty="0">
                <a:latin typeface="Times New Roman" panose="02020603050405020304" pitchFamily="18" charset="0"/>
                <a:ea typeface="SimSun" panose="02010600030101010101" pitchFamily="2" charset="-122"/>
                <a:cs typeface="Times New Roman" panose="02020603050405020304" pitchFamily="18" charset="0"/>
                <a:sym typeface="+mn-ea"/>
              </a:rPr>
              <a:t>Jsons</a:t>
            </a:r>
            <a:r>
              <a:rPr lang="en-US" altLang="zh-CN" sz="2000" b="1" u="sng" dirty="0">
                <a:latin typeface="Times New Roman" panose="02020603050405020304" pitchFamily="18" charset="0"/>
                <a:ea typeface="SimSun" panose="02010600030101010101" pitchFamily="2" charset="-122"/>
                <a:cs typeface="Times New Roman" panose="02020603050405020304" pitchFamily="18" charset="0"/>
                <a:sym typeface="+mn-ea"/>
              </a:rPr>
              <a:t> </a:t>
            </a: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mn-ea"/>
              </a:rPr>
              <a:t>is a later changing format that often exchanges data between a web server and user agent</a:t>
            </a:r>
            <a:endParaRPr lang="en-US" altLang="zh-CN" sz="2000" b="0" i="0" u="none" strike="noStrike" kern="120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pPr algn="l">
              <a:lnSpc>
                <a:spcPct val="100000"/>
              </a:lnSpc>
              <a:spcBef>
                <a:spcPts val="0"/>
              </a:spcBef>
              <a:spcAft>
                <a:spcPts val="0"/>
              </a:spcAft>
            </a:pPr>
            <a:r>
              <a:rPr lang="en-US" altLang="zh-CN" sz="2000" b="1" i="1"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  Initialization  of keylogger </a:t>
            </a:r>
            <a:r>
              <a:rPr lang="en-US" altLang="zh-CN" sz="2000" i="1"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a:t>
            </a:r>
            <a:br>
              <a:rPr lang="zh-CN" altLang="en-US" sz="2000" dirty="0">
                <a:latin typeface="Times New Roman" panose="02020603050405020304" pitchFamily="18" charset="0"/>
                <a:ea typeface="SimSun" panose="02010600030101010101" pitchFamily="2" charset="-122"/>
                <a:cs typeface="Times New Roman" panose="02020603050405020304" pitchFamily="18" charset="0"/>
                <a:sym typeface="+mn-ea"/>
              </a:rPr>
            </a:b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Set up the main GUI window.</a:t>
            </a:r>
            <a:br>
              <a:rPr lang="zh-CN" altLang="en-US" sz="2000" dirty="0">
                <a:latin typeface="Times New Roman" panose="02020603050405020304" pitchFamily="18" charset="0"/>
                <a:ea typeface="SimSun" panose="02010600030101010101" pitchFamily="2" charset="-122"/>
                <a:cs typeface="Times New Roman" panose="02020603050405020304" pitchFamily="18" charset="0"/>
                <a:sym typeface="+mn-ea"/>
              </a:rPr>
            </a:b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Initialize global variables for keylogging.</a:t>
            </a:r>
            <a:endParaRPr lang="en-US" altLang="zh-CN" sz="2000" b="0" i="0" u="none" strike="noStrike" kern="120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pPr algn="l">
              <a:lnSpc>
                <a:spcPct val="100000"/>
              </a:lnSpc>
              <a:spcBef>
                <a:spcPts val="0"/>
              </a:spcBef>
              <a:spcAft>
                <a:spcPts val="0"/>
              </a:spcAft>
            </a:pPr>
            <a:r>
              <a:rPr lang="en-US" altLang="zh-CN" sz="2000" b="1" i="1"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  Data Logging into text files  </a:t>
            </a:r>
            <a:r>
              <a:rPr lang="en-US" altLang="zh-CN" sz="2000" i="1"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a:t>
            </a:r>
            <a:br>
              <a:rPr lang="zh-CN" altLang="en-US" sz="2000" i="1" dirty="0">
                <a:latin typeface="Times New Roman" panose="02020603050405020304" pitchFamily="18" charset="0"/>
                <a:ea typeface="SimSun" panose="02010600030101010101" pitchFamily="2" charset="-122"/>
                <a:cs typeface="Times New Roman" panose="02020603050405020304" pitchFamily="18" charset="0"/>
                <a:sym typeface="+mn-ea"/>
              </a:rPr>
            </a:b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Continuously update text and JSON log files with captured key events.</a:t>
            </a:r>
            <a:endParaRPr lang="en-US" altLang="zh-CN" sz="2000" b="0" i="0" u="none" strike="noStrike" kern="120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pPr algn="l">
              <a:lnSpc>
                <a:spcPct val="100000"/>
              </a:lnSpc>
              <a:spcBef>
                <a:spcPts val="0"/>
              </a:spcBef>
              <a:spcAft>
                <a:spcPts val="0"/>
              </a:spcAft>
            </a:pPr>
            <a:r>
              <a:rPr lang="en-US" altLang="zh-CN" sz="2000" b="1" i="1"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 Stop Logging  </a:t>
            </a:r>
            <a:r>
              <a:rPr lang="en-US" altLang="zh-CN" sz="2000" i="1"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a:t>
            </a:r>
            <a:br>
              <a:rPr lang="zh-CN" altLang="en-US" sz="2000" dirty="0">
                <a:latin typeface="Times New Roman" panose="02020603050405020304" pitchFamily="18" charset="0"/>
                <a:ea typeface="SimSun" panose="02010600030101010101" pitchFamily="2" charset="-122"/>
                <a:cs typeface="Times New Roman" panose="02020603050405020304" pitchFamily="18" charset="0"/>
                <a:sym typeface="+mn-ea"/>
              </a:rPr>
            </a:b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Stop capturing key events when the "Stop" button is pressed.</a:t>
            </a:r>
            <a:br>
              <a:rPr lang="zh-CN" altLang="en-US" sz="2000" dirty="0">
                <a:latin typeface="Times New Roman" panose="02020603050405020304" pitchFamily="18" charset="0"/>
                <a:ea typeface="SimSun" panose="02010600030101010101" pitchFamily="2" charset="-122"/>
                <a:cs typeface="Times New Roman" panose="02020603050405020304" pitchFamily="18" charset="0"/>
                <a:sym typeface="+mn-ea"/>
              </a:rPr>
            </a:br>
            <a:r>
              <a:rPr lang="en-US" altLang="zh-CN" sz="2000" dirty="0">
                <a:latin typeface="Times New Roman" panose="02020603050405020304" pitchFamily="18" charset="0"/>
                <a:ea typeface="SimSun" panose="02010600030101010101" pitchFamily="2" charset="-122"/>
                <a:cs typeface="Times New Roman" panose="02020603050405020304" pitchFamily="18" charset="0"/>
                <a:sym typeface="SimSun" panose="02010600030101010101" pitchFamily="2" charset="-122"/>
              </a:rPr>
              <a:t>Update the GUI status to indicate that the keylogger is stopped.</a:t>
            </a:r>
            <a:br>
              <a:rPr lang="zh-CN" altLang="en-US" sz="2000" dirty="0">
                <a:latin typeface="Times New Roman" panose="02020603050405020304" pitchFamily="18" charset="0"/>
                <a:ea typeface="SimSun" panose="02010600030101010101" pitchFamily="2" charset="-122"/>
                <a:cs typeface="Times New Roman" panose="02020603050405020304" pitchFamily="18" charset="0"/>
                <a:sym typeface="+mn-ea"/>
              </a:rPr>
            </a:br>
            <a:endParaRPr lang="zh-CN" altLang="en-US" sz="2000" dirty="0">
              <a:latin typeface="Times New Roman" panose="02020603050405020304" pitchFamily="18" charset="0"/>
              <a:ea typeface="SimSun" panose="02010600030101010101" pitchFamily="2" charset="-122"/>
              <a:cs typeface="Times New Roman" panose="02020603050405020304" pitchFamily="18" charset="0"/>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zh-CN" sz="4000" b="1" kern="1200" dirty="0">
                <a:latin typeface="Calibri" panose="020F0502020204030204" charset="0"/>
                <a:ea typeface="SimSun" panose="02010600030101010101" pitchFamily="2" charset="-122"/>
                <a:cs typeface="Calibri" panose="020F0502020204030204" charset="0"/>
                <a:sym typeface="+mn-ea"/>
              </a:rPr>
              <a:t>OUTPUTS</a:t>
            </a:r>
            <a:endParaRPr lang="en-US" altLang="zh-CN" sz="4000" b="1" kern="1200" dirty="0">
              <a:latin typeface="Calibri" panose="020F0502020204030204" charset="0"/>
              <a:ea typeface="SimSun" panose="02010600030101010101" pitchFamily="2" charset="-122"/>
              <a:cs typeface="Calibri" panose="020F0502020204030204" charset="0"/>
              <a:sym typeface="+mn-ea"/>
            </a:endParaRPr>
          </a:p>
        </p:txBody>
      </p:sp>
      <p:pic>
        <p:nvPicPr>
          <p:cNvPr id="5" name="Content Placeholder 4"/>
          <p:cNvPicPr>
            <a:picLocks noChangeAspect="1"/>
          </p:cNvPicPr>
          <p:nvPr>
            <p:ph sz="half" idx="2"/>
          </p:nvPr>
        </p:nvPicPr>
        <p:blipFill>
          <a:blip r:embed="rId1">
            <a:extLst>
              <a:ext uri="{28A0092B-C50C-407E-A947-70E740481C1C}">
                <a14:useLocalDpi xmlns:a14="http://schemas.microsoft.com/office/drawing/2010/main" val="0"/>
              </a:ext>
            </a:extLst>
          </a:blip>
          <a:stretch>
            <a:fillRect/>
          </a:stretch>
        </p:blipFill>
        <p:spPr>
          <a:xfrm>
            <a:off x="304800" y="1447800"/>
            <a:ext cx="4182745" cy="4526280"/>
          </a:xfrm>
          <a:prstGeom prst="rect">
            <a:avLst/>
          </a:prstGeom>
        </p:spPr>
      </p:pic>
      <p:pic>
        <p:nvPicPr>
          <p:cNvPr id="7" name="Content Placeholder 6"/>
          <p:cNvPicPr>
            <a:picLocks noChangeAspect="1"/>
          </p:cNvPicPr>
          <p:nvPr>
            <p:ph sz="half" idx="3"/>
          </p:nvPr>
        </p:nvPicPr>
        <p:blipFill>
          <a:blip r:embed="rId2">
            <a:extLst>
              <a:ext uri="{28A0092B-C50C-407E-A947-70E740481C1C}">
                <a14:useLocalDpi xmlns:a14="http://schemas.microsoft.com/office/drawing/2010/main" val="0"/>
              </a:ext>
            </a:extLst>
          </a:blip>
          <a:stretch>
            <a:fillRect/>
          </a:stretch>
        </p:blipFill>
        <p:spPr>
          <a:xfrm>
            <a:off x="5105400" y="1600200"/>
            <a:ext cx="4411980" cy="419290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p:txBody>
      </p:sp>
      <p:sp>
        <p:nvSpPr>
          <p:cNvPr id="10" name="Content Placeholder 9"/>
          <p:cNvSpPr>
            <a:spLocks noGrp="1"/>
          </p:cNvSpPr>
          <p:nvPr>
            <p:ph sz="half" idx="3"/>
          </p:nvPr>
        </p:nvSpPr>
        <p:spPr>
          <a:xfrm>
            <a:off x="685800" y="1344930"/>
            <a:ext cx="7077075" cy="4017645"/>
          </a:xfrm>
        </p:spPr>
        <p:txBody>
          <a:bodyPr>
            <a:noAutofit/>
          </a:bodyPr>
          <a:p>
            <a:pPr lvl="1" algn="just">
              <a:lnSpc>
                <a:spcPct val="150000"/>
              </a:lnSpc>
            </a:pPr>
            <a:r>
              <a:rPr lang="en-US" sz="2000" dirty="0">
                <a:effectLst/>
                <a:latin typeface="Times New Roman" panose="02020603050405020304" pitchFamily="18" charset="0"/>
                <a:cs typeface="Times New Roman" panose="02020603050405020304" pitchFamily="18" charset="0"/>
                <a:sym typeface="+mn-ea"/>
              </a:rPr>
              <a:t>As a result, when a key is pressed, Python will create a keylog.txt file with the list of keys pressed from when the script began running up to the last key pressed.</a:t>
            </a:r>
            <a:endParaRPr lang="en-US" sz="2000" i="0" dirty="0">
              <a:effectLst/>
              <a:latin typeface="Times New Roman" panose="02020603050405020304" pitchFamily="18" charset="0"/>
              <a:cs typeface="Times New Roman" panose="02020603050405020304" pitchFamily="18" charset="0"/>
            </a:endParaRPr>
          </a:p>
          <a:p>
            <a:pPr lvl="1" algn="just">
              <a:lnSpc>
                <a:spcPct val="150000"/>
              </a:lnSpc>
            </a:pPr>
            <a:r>
              <a:rPr lang="en-US" sz="2000" dirty="0">
                <a:effectLst/>
                <a:latin typeface="Times New Roman" panose="02020603050405020304" pitchFamily="18" charset="0"/>
                <a:cs typeface="Times New Roman" panose="02020603050405020304" pitchFamily="18" charset="0"/>
                <a:sym typeface="+mn-ea"/>
              </a:rPr>
              <a:t>If we leave the code like that, it will keep executing constantly. We will define a function consisting of some stop key or a combination of keys that will stop the key logger</a:t>
            </a:r>
            <a:endParaRPr lang="en-US" sz="2000" i="0" dirty="0">
              <a:effectLst/>
              <a:latin typeface="Times New Roman" panose="02020603050405020304" pitchFamily="18" charset="0"/>
              <a:cs typeface="Times New Roman" panose="02020603050405020304" pitchFamily="18" charset="0"/>
            </a:endParaRPr>
          </a:p>
          <a:p>
            <a:pPr lvl="1" algn="just">
              <a:lnSpc>
                <a:spcPct val="150000"/>
              </a:lnSpc>
            </a:pPr>
            <a:r>
              <a:rPr lang="en-US" altLang="zh-CN" sz="2000" kern="1200" dirty="0">
                <a:latin typeface="Times New Roman" panose="02020603050405020304" pitchFamily="18" charset="0"/>
                <a:ea typeface="SimSun" panose="02010600030101010101" pitchFamily="2" charset="-122"/>
                <a:cs typeface="Times New Roman" panose="02020603050405020304" pitchFamily="18" charset="0"/>
                <a:sym typeface="+mn-ea"/>
              </a:rPr>
              <a:t>Real-time keylogging with start and stop functionality controlled via a simple GUI. </a:t>
            </a:r>
            <a:endParaRPr lang="en-US" altLang="zh-CN" sz="2000" i="0" u="none" strike="noStrike" kern="1200" cap="none" spc="0" baseline="0" dirty="0">
              <a:latin typeface="Times New Roman" panose="02020603050405020304" pitchFamily="18" charset="0"/>
              <a:ea typeface="SimSun" panose="02010600030101010101" pitchFamily="2" charset="-122"/>
              <a:cs typeface="Times New Roman" panose="02020603050405020304" pitchFamily="18" charset="0"/>
            </a:endParaRPr>
          </a:p>
          <a:p>
            <a:endParaRPr lang="en-US" altLang="zh-CN" sz="2000" i="0" u="none" strike="noStrike" kern="1200" cap="none" spc="0" baseline="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p:txBody>
      </p:sp>
      <p:pic>
        <p:nvPicPr>
          <p:cNvPr id="6" name="object 6"/>
          <p:cNvPicPr/>
          <p:nvPr/>
        </p:nvPicPr>
        <p:blipFill>
          <a:blip r:embed="rId1"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04799"/>
            <a:ext cx="10681335" cy="758190"/>
          </a:xfrm>
          <a:prstGeom prst="rect">
            <a:avLst/>
          </a:prstGeom>
        </p:spPr>
        <p:txBody>
          <a:bodyPr vert="horz" wrap="square" lIns="0" tIns="13335" rIns="0" bIns="0" rtlCol="0">
            <a:spAutoFit/>
          </a:bodyPr>
          <a:lstStyle/>
          <a:p>
            <a:pPr marL="12700">
              <a:lnSpc>
                <a:spcPct val="100000"/>
              </a:lnSpc>
              <a:spcBef>
                <a:spcPts val="105"/>
              </a:spcBef>
            </a:pPr>
            <a:r>
              <a:rPr dirty="0"/>
              <a:t>R</a:t>
            </a:r>
            <a:r>
              <a:rPr spc="-40" dirty="0"/>
              <a:t>E</a:t>
            </a:r>
            <a:r>
              <a:rPr spc="15" dirty="0"/>
              <a:t>S</a:t>
            </a:r>
            <a:r>
              <a:rPr spc="-30" dirty="0"/>
              <a:t>U</a:t>
            </a:r>
            <a:r>
              <a:rPr spc="-405" dirty="0"/>
              <a:t>L</a:t>
            </a:r>
            <a:r>
              <a:rPr dirty="0"/>
              <a:t>TS</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fld>
            <a:endParaRPr sz="1100">
              <a:latin typeface="Trebuchet MS" panose="020B0603020202020204"/>
              <a:cs typeface="Trebuchet MS" panose="020B0603020202020204"/>
            </a:endParaRPr>
          </a:p>
        </p:txBody>
      </p:sp>
      <p:pic>
        <p:nvPicPr>
          <p:cNvPr id="8" name="Content Placeholder 7"/>
          <p:cNvPicPr>
            <a:picLocks noChangeAspect="1"/>
          </p:cNvPicPr>
          <p:nvPr>
            <p:ph sz="half" idx="2"/>
          </p:nvPr>
        </p:nvPicPr>
        <p:blipFill>
          <a:blip r:embed="rId2"/>
          <a:stretch>
            <a:fillRect/>
          </a:stretch>
        </p:blipFill>
        <p:spPr>
          <a:xfrm>
            <a:off x="3810000" y="4953000"/>
            <a:ext cx="2065020" cy="16179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295654" y="837945"/>
            <a:ext cx="5800851" cy="492125"/>
          </a:xfrm>
        </p:spPr>
        <p:txBody>
          <a:bodyPr/>
          <a:p>
            <a:r>
              <a:rPr lang="en-US"/>
              <a:t>PROJECY LINK</a:t>
            </a:r>
            <a:endParaRPr lang="en-US"/>
          </a:p>
        </p:txBody>
      </p:sp>
      <p:sp>
        <p:nvSpPr>
          <p:cNvPr id="3" name="Subtitle 2"/>
          <p:cNvSpPr>
            <a:spLocks noGrp="1"/>
          </p:cNvSpPr>
          <p:nvPr>
            <p:ph type="subTitle" idx="4"/>
          </p:nvPr>
        </p:nvSpPr>
        <p:spPr>
          <a:xfrm>
            <a:off x="990600" y="2514600"/>
            <a:ext cx="8534400" cy="368935"/>
          </a:xfrm>
        </p:spPr>
        <p:txBody>
          <a:bodyPr/>
          <a:p>
            <a:r>
              <a:rPr lang="en-US" sz="2400"/>
              <a:t>https://github.com/Kanakavarshini/JOGA-KANAKA-VARSHINI.gi</a:t>
            </a:r>
            <a:r>
              <a:rPr lang="en-US"/>
              <a:t>t</a:t>
            </a: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2923</Words>
  <Application>WPS Presentation</Application>
  <PresentationFormat>Widescreen</PresentationFormat>
  <Paragraphs>113</Paragraphs>
  <Slides>13</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13</vt:i4>
      </vt:variant>
    </vt:vector>
  </HeadingPairs>
  <TitlesOfParts>
    <vt:vector size="23" baseType="lpstr">
      <vt:lpstr>Arial</vt:lpstr>
      <vt:lpstr>SimSun</vt:lpstr>
      <vt:lpstr>Wingdings</vt:lpstr>
      <vt:lpstr>Trebuchet MS</vt:lpstr>
      <vt:lpstr>Calibri</vt:lpstr>
      <vt:lpstr>Microsoft YaHei</vt:lpstr>
      <vt:lpstr>Arial Unicode MS</vt:lpstr>
      <vt:lpstr>Times New Roman</vt:lpstr>
      <vt:lpstr>Bahnschrift</vt:lpstr>
      <vt:lpstr>Office Theme</vt:lpstr>
      <vt:lpstr>Student Name</vt:lpstr>
      <vt:lpstr>PROJECT TITLE</vt:lpstr>
      <vt:lpstr>AGENDA</vt:lpstr>
      <vt:lpstr>PowerPoint 演示文稿</vt:lpstr>
      <vt:lpstr>PROBLEM	STATEMENT</vt:lpstr>
      <vt:lpstr>PROJECT	OVERVIEW</vt:lpstr>
      <vt:lpstr>WHO ARE THE END USERS?</vt:lpstr>
      <vt:lpstr>YOUR SOLUTION AND ITS VALUE PROPOSITION</vt:lpstr>
      <vt:lpstr>THE WOW IN YOUR SOLUTION</vt:lpstr>
      <vt:lpstr>PowerPoint 演示文稿</vt:lpstr>
      <vt:lpstr>PowerPoint 演示文稿</vt:lpstr>
      <vt:lpstr>RESULTS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kanak</cp:lastModifiedBy>
  <cp:revision>4</cp:revision>
  <dcterms:created xsi:type="dcterms:W3CDTF">2024-06-03T05:48:00Z</dcterms:created>
  <dcterms:modified xsi:type="dcterms:W3CDTF">2024-06-18T16:37:45Z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2024-03-21T05:30:00Z</vt:filetime>
  </property>
  <property fmtid="{D5CDD505-2E9C-101B-9397-08002B2CF9AE}" pid="3" name="LastSaved">
    <vt:filetime>2024-06-03T05:30:00Z</vt:filetime>
  </property>
  <property fmtid="{D5CDD505-2E9C-101B-9397-08002B2CF9AE}" pid="4" name="ICV">
    <vt:lpwstr>F78207ED6E294826A3ED8034FADA80AF_13</vt:lpwstr>
  </property>
  <property fmtid="{D5CDD505-2E9C-101B-9397-08002B2CF9AE}" pid="5" name="KSOProductBuildVer">
    <vt:lpwstr>1033-12.2.0.13472</vt:lpwstr>
  </property>
</Properties>
</file>